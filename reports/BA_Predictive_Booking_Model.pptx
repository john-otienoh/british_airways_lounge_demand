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9728"/>
          </a:xfrm>
          <a:prstGeom prst="rect">
            <a:avLst/>
          </a:prstGeom>
          <a:solidFill>
            <a:srgbClr val="D4A017"/>
          </a:solidFill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D4A017"/>
          </a:solidFill>
        </p:spPr>
      </p:sp>
      <p:sp>
        <p:nvSpPr>
          <p:cNvPr id="5" name="Shape 3"/>
          <p:cNvSpPr/>
          <p:nvPr/>
        </p:nvSpPr>
        <p:spPr>
          <a:xfrm>
            <a:off x="4069080" y="320040"/>
            <a:ext cx="1005840" cy="1005840"/>
          </a:xfrm>
          <a:prstGeom prst="ellipse">
            <a:avLst/>
          </a:prstGeom>
          <a:solidFill>
            <a:srgbClr val="D4A01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69080" y="347472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Customer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Model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Acquire Customers Before They Fly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Data Science  |  Customer Acquisition Strategy  |  </a:t>
            </a:r>
            <a:r>
              <a:rPr lang="en-US" sz="1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50,000 bookings  •  Features: 17  •  Algorithm: Random Forest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78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D4A017"/>
          </a:solidFill>
        </p:spPr>
      </p:sp>
      <p:sp>
        <p:nvSpPr>
          <p:cNvPr id="4" name="Text 2"/>
          <p:cNvSpPr/>
          <p:nvPr/>
        </p:nvSpPr>
        <p:spPr>
          <a:xfrm>
            <a:off x="274320" y="73152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Booking Prediction — Summary Findings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109728"/>
            <a:ext cx="594360" cy="594360"/>
          </a:xfrm>
          <a:prstGeom prst="ellipse">
            <a:avLst/>
          </a:prstGeom>
          <a:solidFill>
            <a:srgbClr val="D4A017"/>
          </a:solidFill>
        </p:spPr>
      </p:sp>
      <p:sp>
        <p:nvSpPr>
          <p:cNvPr id="6" name="Text 4"/>
          <p:cNvSpPr/>
          <p:nvPr/>
        </p:nvSpPr>
        <p:spPr>
          <a:xfrm>
            <a:off x="8366760" y="109728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" y="1078992"/>
            <a:ext cx="1536192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1078992"/>
            <a:ext cx="1536192" cy="201168"/>
          </a:xfrm>
          <a:prstGeom prst="rect">
            <a:avLst/>
          </a:prstGeom>
          <a:solidFill>
            <a:srgbClr val="0B1F78"/>
          </a:solidFill>
        </p:spPr>
      </p:sp>
      <p:sp>
        <p:nvSpPr>
          <p:cNvPr id="9" name="Text 7"/>
          <p:cNvSpPr/>
          <p:nvPr/>
        </p:nvSpPr>
        <p:spPr>
          <a:xfrm>
            <a:off x="137160" y="1078992"/>
            <a:ext cx="1536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" y="1280160"/>
            <a:ext cx="15361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71.2%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" y="1755648"/>
            <a:ext cx="153619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±0.3% std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46504" y="1078992"/>
            <a:ext cx="1536192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46504" y="1078992"/>
            <a:ext cx="1536192" cy="201168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14" name="Text 12"/>
          <p:cNvSpPr/>
          <p:nvPr/>
        </p:nvSpPr>
        <p:spPr>
          <a:xfrm>
            <a:off x="1746504" y="1078992"/>
            <a:ext cx="1536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46504" y="1280160"/>
            <a:ext cx="15361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46504" y="1755648"/>
            <a:ext cx="153619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±0.004 std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355848" y="1078992"/>
            <a:ext cx="1536192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55848" y="1078992"/>
            <a:ext cx="1536192" cy="201168"/>
          </a:xfrm>
          <a:prstGeom prst="rect">
            <a:avLst/>
          </a:prstGeom>
          <a:solidFill>
            <a:srgbClr val="0D6E3A"/>
          </a:solidFill>
        </p:spPr>
      </p:sp>
      <p:sp>
        <p:nvSpPr>
          <p:cNvPr id="19" name="Text 17"/>
          <p:cNvSpPr/>
          <p:nvPr/>
        </p:nvSpPr>
        <p:spPr>
          <a:xfrm>
            <a:off x="3355848" y="1078992"/>
            <a:ext cx="1536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5848" y="1280160"/>
            <a:ext cx="15361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6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55848" y="1755648"/>
            <a:ext cx="153619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±0.6% std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65192" y="1078992"/>
            <a:ext cx="1536192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65192" y="1078992"/>
            <a:ext cx="1536192" cy="201168"/>
          </a:xfrm>
          <a:prstGeom prst="rect">
            <a:avLst/>
          </a:prstGeom>
          <a:solidFill>
            <a:srgbClr val="D4A017"/>
          </a:solidFill>
        </p:spPr>
      </p:sp>
      <p:sp>
        <p:nvSpPr>
          <p:cNvPr id="24" name="Text 22"/>
          <p:cNvSpPr/>
          <p:nvPr/>
        </p:nvSpPr>
        <p:spPr>
          <a:xfrm>
            <a:off x="4965192" y="1078992"/>
            <a:ext cx="1536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65192" y="1280160"/>
            <a:ext cx="15361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45.7%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965192" y="1755648"/>
            <a:ext cx="153619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±1.7% std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74536" y="1078992"/>
            <a:ext cx="1536192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74536" y="1078992"/>
            <a:ext cx="1536192" cy="201168"/>
          </a:xfrm>
          <a:prstGeom prst="rect">
            <a:avLst/>
          </a:prstGeom>
          <a:solidFill>
            <a:srgbClr val="5C3D8F"/>
          </a:solidFill>
        </p:spPr>
      </p:sp>
      <p:sp>
        <p:nvSpPr>
          <p:cNvPr id="29" name="Text 27"/>
          <p:cNvSpPr/>
          <p:nvPr/>
        </p:nvSpPr>
        <p:spPr>
          <a:xfrm>
            <a:off x="6574536" y="1078992"/>
            <a:ext cx="1536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74536" y="1280160"/>
            <a:ext cx="15361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3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0.311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74536" y="1755648"/>
            <a:ext cx="153619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±0.009 std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7160" y="2148840"/>
            <a:ext cx="5029200" cy="25603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37160" y="2148840"/>
            <a:ext cx="5029200" cy="256032"/>
          </a:xfrm>
          <a:prstGeom prst="rect">
            <a:avLst/>
          </a:prstGeom>
          <a:solidFill>
            <a:srgbClr val="0B1F78"/>
          </a:solidFill>
        </p:spPr>
      </p:sp>
      <p:sp>
        <p:nvSpPr>
          <p:cNvPr id="34" name="Text 32"/>
          <p:cNvSpPr/>
          <p:nvPr/>
        </p:nvSpPr>
        <p:spPr>
          <a:xfrm>
            <a:off x="137160" y="214884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(Random Forest)</a:t>
            </a:r>
            <a:endParaRPr lang="en-US" sz="10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2423160"/>
            <a:ext cx="4937760" cy="224028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5349240" y="2148840"/>
            <a:ext cx="3611880" cy="25603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349240" y="2148840"/>
            <a:ext cx="3611880" cy="256032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38" name="Text 35"/>
          <p:cNvSpPr/>
          <p:nvPr/>
        </p:nvSpPr>
        <p:spPr>
          <a:xfrm>
            <a:off x="5349240" y="2148840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Scores</a:t>
            </a:r>
            <a:endParaRPr lang="en-US" sz="1000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423160"/>
            <a:ext cx="3520440" cy="224028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F78"/>
          </a:solidFill>
        </p:spPr>
      </p:sp>
      <p:sp>
        <p:nvSpPr>
          <p:cNvPr id="41" name="Text 3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 •  50,000 bookings  •  Booking rate: 14.3%  •  British Airways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78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D4A017"/>
          </a:solidFill>
        </p:spPr>
      </p:sp>
      <p:sp>
        <p:nvSpPr>
          <p:cNvPr id="4" name="Text 2"/>
          <p:cNvSpPr/>
          <p:nvPr/>
        </p:nvSpPr>
        <p:spPr>
          <a:xfrm>
            <a:off x="274320" y="73152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Strategic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109728"/>
            <a:ext cx="594360" cy="594360"/>
          </a:xfrm>
          <a:prstGeom prst="ellipse">
            <a:avLst/>
          </a:prstGeom>
          <a:solidFill>
            <a:srgbClr val="D4A017"/>
          </a:solidFill>
        </p:spPr>
      </p:sp>
      <p:sp>
        <p:nvSpPr>
          <p:cNvPr id="6" name="Text 4"/>
          <p:cNvSpPr/>
          <p:nvPr/>
        </p:nvSpPr>
        <p:spPr>
          <a:xfrm>
            <a:off x="8366760" y="109728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4160520" cy="35661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97280"/>
            <a:ext cx="4160520" cy="256032"/>
          </a:xfrm>
          <a:prstGeom prst="rect">
            <a:avLst/>
          </a:prstGeom>
          <a:solidFill>
            <a:srgbClr val="0B1F78"/>
          </a:solidFill>
        </p:spPr>
      </p:sp>
      <p:sp>
        <p:nvSpPr>
          <p:cNvPr id="9" name="Text 7"/>
          <p:cNvSpPr/>
          <p:nvPr/>
        </p:nvSpPr>
        <p:spPr>
          <a:xfrm>
            <a:off x="182880" y="1097280"/>
            <a:ext cx="4160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463040"/>
            <a:ext cx="3977640" cy="658368"/>
          </a:xfrm>
          <a:prstGeom prst="rect">
            <a:avLst/>
          </a:prstGeom>
          <a:solidFill>
            <a:srgbClr val="E8EA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463040"/>
            <a:ext cx="54864" cy="658368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12" name="Text 10"/>
          <p:cNvSpPr/>
          <p:nvPr/>
        </p:nvSpPr>
        <p:spPr>
          <a:xfrm>
            <a:off x="347472" y="148132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Purchase Lead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1682496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predictive feature. Customers who book early (90+ days out) complete bookings at a significantly higher rate — giving BA a longer acquisition window.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2240280"/>
            <a:ext cx="3977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240280"/>
            <a:ext cx="54864" cy="658368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16" name="Text 14"/>
          <p:cNvSpPr/>
          <p:nvPr/>
        </p:nvSpPr>
        <p:spPr>
          <a:xfrm>
            <a:off x="347472" y="225856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Flight Duration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2459736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flights correlate with higher commitment to complete. Long-haul customers are less likely to abandon their booking.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3017520"/>
            <a:ext cx="3977640" cy="658368"/>
          </a:xfrm>
          <a:prstGeom prst="rect">
            <a:avLst/>
          </a:prstGeom>
          <a:solidFill>
            <a:srgbClr val="E8EA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3017520"/>
            <a:ext cx="54864" cy="658368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20" name="Text 18"/>
          <p:cNvSpPr/>
          <p:nvPr/>
        </p:nvSpPr>
        <p:spPr>
          <a:xfrm>
            <a:off x="347472" y="303580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</a:t>
            </a:r>
            <a:r>
              <a:rPr lang="" altLang="en-US" sz="1000" b="1" dirty="0">
                <a:solidFill>
                  <a:srgbClr val="0B1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000" b="1" dirty="0">
                <a:solidFill>
                  <a:srgbClr val="0B1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dd-On Services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" y="3236976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selecting extra baggage, preferred seats, or meals show stronger intent to complete. These act as strong behavioural signals.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3794760"/>
            <a:ext cx="3977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3794760"/>
            <a:ext cx="54864" cy="658368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24" name="Text 22"/>
          <p:cNvSpPr/>
          <p:nvPr/>
        </p:nvSpPr>
        <p:spPr>
          <a:xfrm>
            <a:off x="347472" y="381304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Sales Channel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" y="4014216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bookings show measurably higher completion rates — suggesting BA should invest further in app-based acquisition funnels.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1097280"/>
            <a:ext cx="4343400" cy="35661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097280"/>
            <a:ext cx="4343400" cy="256032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28" name="Text 26"/>
          <p:cNvSpPr/>
          <p:nvPr/>
        </p:nvSpPr>
        <p:spPr>
          <a:xfrm>
            <a:off x="4572000" y="1097280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1463040"/>
            <a:ext cx="4206240" cy="658368"/>
          </a:xfrm>
          <a:prstGeom prst="rect">
            <a:avLst/>
          </a:prstGeom>
          <a:solidFill>
            <a:srgbClr val="FF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572768"/>
            <a:ext cx="365760" cy="365760"/>
          </a:xfrm>
          <a:prstGeom prst="ellipse">
            <a:avLst/>
          </a:prstGeom>
          <a:solidFill>
            <a:srgbClr val="CC0000"/>
          </a:solidFill>
        </p:spPr>
      </p:sp>
      <p:sp>
        <p:nvSpPr>
          <p:cNvPr id="31" name="Text 29"/>
          <p:cNvSpPr/>
          <p:nvPr/>
        </p:nvSpPr>
        <p:spPr>
          <a:xfrm>
            <a:off x="4663440" y="15727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02352" y="1490472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Early-Bird Targeting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02352" y="1691640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scores to identify likely high-intent customers 90+ days before travel. Trigger personalised email/push campaigns with early-bird incentives.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224028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350008"/>
            <a:ext cx="365760" cy="365760"/>
          </a:xfrm>
          <a:prstGeom prst="ellipse">
            <a:avLst/>
          </a:prstGeom>
          <a:solidFill>
            <a:srgbClr val="CC0000"/>
          </a:solidFill>
        </p:spPr>
      </p:sp>
      <p:sp>
        <p:nvSpPr>
          <p:cNvPr id="36" name="Text 34"/>
          <p:cNvSpPr/>
          <p:nvPr/>
        </p:nvSpPr>
        <p:spPr>
          <a:xfrm>
            <a:off x="4663440" y="23500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02352" y="2267712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Propensity Scoring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02352" y="2468880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clicking extra baggage or seats but not completing should be re-targeted within 24h. These signals predict 3× higher completion likelihood.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3017520"/>
            <a:ext cx="4206240" cy="658368"/>
          </a:xfrm>
          <a:prstGeom prst="rect">
            <a:avLst/>
          </a:prstGeom>
          <a:solidFill>
            <a:srgbClr val="FF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127248"/>
            <a:ext cx="365760" cy="365760"/>
          </a:xfrm>
          <a:prstGeom prst="ellipse">
            <a:avLst/>
          </a:prstGeom>
          <a:solidFill>
            <a:srgbClr val="CC0000"/>
          </a:solidFill>
        </p:spPr>
      </p:sp>
      <p:sp>
        <p:nvSpPr>
          <p:cNvPr id="41" name="Text 39"/>
          <p:cNvSpPr/>
          <p:nvPr/>
        </p:nvSpPr>
        <p:spPr>
          <a:xfrm>
            <a:off x="4663440" y="31272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02352" y="3044952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Investment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02352" y="3246120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in-app booking flows and push notification campaigns. Mobile channel shows superior conversion — optimise UX to reduce drop-off.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17720" y="379476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904488"/>
            <a:ext cx="365760" cy="365760"/>
          </a:xfrm>
          <a:prstGeom prst="ellipse">
            <a:avLst/>
          </a:prstGeom>
          <a:solidFill>
            <a:srgbClr val="CC0000"/>
          </a:solidFill>
        </p:spPr>
      </p:sp>
      <p:sp>
        <p:nvSpPr>
          <p:cNvPr id="46" name="Text 44"/>
          <p:cNvSpPr/>
          <p:nvPr/>
        </p:nvSpPr>
        <p:spPr>
          <a:xfrm>
            <a:off x="4663440" y="39044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02352" y="3822192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Route Prioritisation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02352" y="4023360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predictive marketing on long-haul routes where customer commitment is higher and revenue per booking is significantly greater.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F78"/>
          </a:solidFill>
        </p:spPr>
      </p:sp>
      <p:sp>
        <p:nvSpPr>
          <p:cNvPr id="50" name="Text 4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0.652  •  Model identifies 45.7% of true completers  •  Suitable for proactive campaign targeting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2058</Words>
  <Application>WPS Presentation</Application>
  <PresentationFormat>On-screen Show (16:9)</PresentationFormat>
  <Paragraphs>101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8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Calibri</vt:lpstr>
      <vt:lpstr>Calibri</vt:lpstr>
      <vt:lpstr>URW Bookman</vt:lpstr>
      <vt:lpstr>DejaVu Sans</vt:lpstr>
      <vt:lpstr>微软雅黑</vt:lpstr>
      <vt:lpstr>Droid Sans Fallback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British Airways – Predictive Booking Model</dc:title>
  <dc:creator>PptxGenJS</dc:creator>
  <dc:subject>PptxGenJS Presentation</dc:subject>
  <cp:lastModifiedBy>outis</cp:lastModifiedBy>
  <cp:revision>2</cp:revision>
  <dcterms:created xsi:type="dcterms:W3CDTF">2026-03-03T12:41:36Z</dcterms:created>
  <dcterms:modified xsi:type="dcterms:W3CDTF">2026-03-03T12:41:36Z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