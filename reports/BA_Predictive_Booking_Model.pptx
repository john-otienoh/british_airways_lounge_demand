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972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5" name="Shape 3"/>
          <p:cNvSpPr/>
          <p:nvPr/>
        </p:nvSpPr>
        <p:spPr>
          <a:xfrm>
            <a:off x="4069080" y="320040"/>
            <a:ext cx="1005840" cy="1005840"/>
          </a:xfrm>
          <a:prstGeom prst="ellipse">
            <a:avLst/>
          </a:prstGeom>
          <a:solidFill>
            <a:srgbClr val="D4A01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69080" y="347472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F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Predictive Customer</a:t>
            </a:r>
            <a:endParaRPr lang="en-US" sz="4200" dirty="0"/>
          </a:p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Booking Model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Machine Learning to Acquire Customers Before They Fly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British Airways Data Science  |  </a:t>
            </a:r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Acquisition Strategy  |  </a:t>
            </a:r>
            <a:pPr algn="ctr" indent="0" marL="0">
              <a:buNone/>
            </a:pPr>
            <a:r>
              <a:rPr lang="en-US" sz="13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Classifier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50,000 bookings  •  Features: 17  •  Algorithm: Random Forest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B1F7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73152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73152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Booking Prediction — Summary Findings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66760" y="109728"/>
            <a:ext cx="594360" cy="59436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10972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" y="1078992"/>
            <a:ext cx="1536192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37160" y="1078992"/>
            <a:ext cx="1536192" cy="201168"/>
          </a:xfrm>
          <a:prstGeom prst="rect">
            <a:avLst/>
          </a:prstGeom>
          <a:solidFill>
            <a:srgbClr val="0B1F78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" y="10789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37160" y="1280160"/>
            <a:ext cx="15361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F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71.2%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7160" y="1755648"/>
            <a:ext cx="15361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9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±0.3% std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746504" y="1078992"/>
            <a:ext cx="1536192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746504" y="1078992"/>
            <a:ext cx="1536192" cy="20116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1746504" y="10789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746504" y="1280160"/>
            <a:ext cx="15361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0.652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46504" y="1755648"/>
            <a:ext cx="15361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9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±0.004 std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355848" y="1078992"/>
            <a:ext cx="1536192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55848" y="1078992"/>
            <a:ext cx="1536192" cy="201168"/>
          </a:xfrm>
          <a:prstGeom prst="rect">
            <a:avLst/>
          </a:prstGeom>
          <a:solidFill>
            <a:srgbClr val="0D6E3A"/>
          </a:solidFill>
          <a:ln/>
        </p:spPr>
      </p:sp>
      <p:sp>
        <p:nvSpPr>
          <p:cNvPr id="19" name="Text 17"/>
          <p:cNvSpPr/>
          <p:nvPr/>
        </p:nvSpPr>
        <p:spPr>
          <a:xfrm>
            <a:off x="3355848" y="10789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355848" y="1280160"/>
            <a:ext cx="15361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6E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23.6%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355848" y="1755648"/>
            <a:ext cx="15361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9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±0.6% std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65192" y="1078992"/>
            <a:ext cx="1536192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965192" y="1078992"/>
            <a:ext cx="1536192" cy="201168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4" name="Text 22"/>
          <p:cNvSpPr/>
          <p:nvPr/>
        </p:nvSpPr>
        <p:spPr>
          <a:xfrm>
            <a:off x="4965192" y="10789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965192" y="1280160"/>
            <a:ext cx="15361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0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45.7%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965192" y="1755648"/>
            <a:ext cx="15361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9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±1.7% std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574536" y="1078992"/>
            <a:ext cx="1536192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74536" y="1078992"/>
            <a:ext cx="1536192" cy="201168"/>
          </a:xfrm>
          <a:prstGeom prst="rect">
            <a:avLst/>
          </a:prstGeom>
          <a:solidFill>
            <a:srgbClr val="5C3D8F"/>
          </a:solidFill>
          <a:ln/>
        </p:spPr>
      </p:sp>
      <p:sp>
        <p:nvSpPr>
          <p:cNvPr id="29" name="Text 27"/>
          <p:cNvSpPr/>
          <p:nvPr/>
        </p:nvSpPr>
        <p:spPr>
          <a:xfrm>
            <a:off x="6574536" y="107899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74536" y="1280160"/>
            <a:ext cx="15361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3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0.311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574536" y="1755648"/>
            <a:ext cx="15361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E9A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±0.009 std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37160" y="2148840"/>
            <a:ext cx="50292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37160" y="2148840"/>
            <a:ext cx="5029200" cy="256032"/>
          </a:xfrm>
          <a:prstGeom prst="rect">
            <a:avLst/>
          </a:prstGeom>
          <a:solidFill>
            <a:srgbClr val="0B1F78"/>
          </a:solidFill>
          <a:ln/>
        </p:spPr>
      </p:sp>
      <p:sp>
        <p:nvSpPr>
          <p:cNvPr id="34" name="Text 32"/>
          <p:cNvSpPr/>
          <p:nvPr/>
        </p:nvSpPr>
        <p:spPr>
          <a:xfrm>
            <a:off x="137160" y="21488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(Random Forest)</a:t>
            </a:r>
            <a:endParaRPr lang="en-US" sz="100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2423160"/>
            <a:ext cx="4937760" cy="224028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5349240" y="2148840"/>
            <a:ext cx="361188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349240" y="2148840"/>
            <a:ext cx="3611880" cy="25603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5349240" y="2148840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Cross-Validation Scores</a:t>
            </a:r>
            <a:endParaRPr lang="en-US" sz="1000" dirty="0"/>
          </a:p>
        </p:txBody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423160"/>
            <a:ext cx="3520440" cy="224028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B1F78"/>
          </a:solidFill>
          <a:ln/>
        </p:spPr>
      </p:sp>
      <p:sp>
        <p:nvSpPr>
          <p:cNvPr id="41" name="Text 37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CV  •  50,000 bookings  •  Booking rate: 14.3%  •  British Airways Data Science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B1F7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73152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73152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Insights &amp; Strategic Recommendations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366760" y="109728"/>
            <a:ext cx="594360" cy="594360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109728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F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" y="1097280"/>
            <a:ext cx="4160520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82880" y="1097280"/>
            <a:ext cx="4160520" cy="256032"/>
          </a:xfrm>
          <a:prstGeom prst="rect">
            <a:avLst/>
          </a:prstGeom>
          <a:solidFill>
            <a:srgbClr val="0B1F78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109728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Interpretation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6032" y="1463040"/>
            <a:ext cx="3977640" cy="65836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" y="1463040"/>
            <a:ext cx="54864" cy="65836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" y="148132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Purchase Lead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7472" y="16824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predictive feature. Customers who book early (90+ days out) complete bookings at a significantly higher rate — giving BA a longer acquisition window.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56032" y="2240280"/>
            <a:ext cx="39776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6032" y="2240280"/>
            <a:ext cx="54864" cy="65836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6" name="Text 14"/>
          <p:cNvSpPr/>
          <p:nvPr/>
        </p:nvSpPr>
        <p:spPr>
          <a:xfrm>
            <a:off x="347472" y="225856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✈️ Flight Duration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7472" y="245973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flights correlate with higher commitment to complete. Long-haul customers are less likely to abandon their booking.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56032" y="3017520"/>
            <a:ext cx="3977640" cy="658368"/>
          </a:xfrm>
          <a:prstGeom prst="rect">
            <a:avLst/>
          </a:prstGeom>
          <a:solidFill>
            <a:srgbClr val="E8EAF6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6032" y="3017520"/>
            <a:ext cx="54864" cy="65836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347472" y="303580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🎒 Add-On Services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47472" y="323697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selecting extra baggage, preferred seats, or meals show stronger intent to complete. These act as strong behavioural signals.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56032" y="3794760"/>
            <a:ext cx="39776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6032" y="3794760"/>
            <a:ext cx="54864" cy="658368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24" name="Text 22"/>
          <p:cNvSpPr/>
          <p:nvPr/>
        </p:nvSpPr>
        <p:spPr>
          <a:xfrm>
            <a:off x="347472" y="38130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Sales Channel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7472" y="401421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bookings show measurably higher completion rates — suggesting BA should invest further in app-based acquisition funnels.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0" y="1097280"/>
            <a:ext cx="4343400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0" y="1097280"/>
            <a:ext cx="4343400" cy="25603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0" y="1097280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Recommendations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17720" y="1463040"/>
            <a:ext cx="4206240" cy="658368"/>
          </a:xfrm>
          <a:prstGeom prst="rect">
            <a:avLst/>
          </a:prstGeom>
          <a:solidFill>
            <a:srgbClr val="FFF5F5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63440" y="1572768"/>
            <a:ext cx="365760" cy="365760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02352" y="1490472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Early-Bird Targeting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102352" y="169164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model scores to identify likely high-intent customers 90+ days before travel. Trigger personalised email/push campaigns with early-bird incentives.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17720" y="2240280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63440" y="2350008"/>
            <a:ext cx="365760" cy="365760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36" name="Text 34"/>
          <p:cNvSpPr/>
          <p:nvPr/>
        </p:nvSpPr>
        <p:spPr>
          <a:xfrm>
            <a:off x="4663440" y="23500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102352" y="2267712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 Propensity Scoring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102352" y="246888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clicking extra baggage or seats but not completing should be re-targeted within 24h. These signals predict 3× higher completion likelihood.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617720" y="3017520"/>
            <a:ext cx="4206240" cy="658368"/>
          </a:xfrm>
          <a:prstGeom prst="rect">
            <a:avLst/>
          </a:prstGeom>
          <a:solidFill>
            <a:srgbClr val="FFF5F5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63440" y="3127248"/>
            <a:ext cx="365760" cy="365760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41" name="Text 39"/>
          <p:cNvSpPr/>
          <p:nvPr/>
        </p:nvSpPr>
        <p:spPr>
          <a:xfrm>
            <a:off x="4663440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02352" y="3044952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Investment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102352" y="324612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in-app booking flows and push notification campaigns. Mobile channel shows superior conversion — optimise UX to reduce drop-off.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617720" y="3794760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63440" y="3904488"/>
            <a:ext cx="365760" cy="365760"/>
          </a:xfrm>
          <a:prstGeom prst="ellipse">
            <a:avLst/>
          </a:prstGeom>
          <a:solidFill>
            <a:srgbClr val="CC0000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102352" y="3822192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Route Prioritisation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02352" y="402336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predictive marketing on long-haul routes where customer commitment is higher and revenue per booking is significantly greater.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B1F78"/>
          </a:solidFill>
          <a:ln/>
        </p:spPr>
      </p:sp>
      <p:sp>
        <p:nvSpPr>
          <p:cNvPr id="50" name="Text 48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EA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ROC-AUC: 0.652  •  Model identifies 45.7% of true completers  •  Suitable for proactive campaign targeting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British Airways – Predictive Booking Model</dc:title>
  <dc:subject>PptxGenJS Presentation</dc:subject>
  <dc:creator>PptxGenJS</dc:creator>
  <cp:lastModifiedBy>PptxGenJS</cp:lastModifiedBy>
  <cp:revision>1</cp:revision>
  <dcterms:created xsi:type="dcterms:W3CDTF">2026-03-03T09:35:12Z</dcterms:created>
  <dcterms:modified xsi:type="dcterms:W3CDTF">2026-03-03T09:35:12Z</dcterms:modified>
</cp:coreProperties>
</file>